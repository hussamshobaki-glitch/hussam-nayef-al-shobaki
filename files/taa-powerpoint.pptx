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مرحباً يا أصدقائي! أنا أوس الشوبكي، من مدرسة المهارات الدولية. اليوم سنتعلم معاً حرفاً جميلاً، إنه حرف التاء!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انظروا إلى شكل حرف التاء. هو مثل صحن صغير، وفوقه نقطتان. واحد، اثنان!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لنقرأ الحرف مع الحركات: تَ بالفتحة، تُ بالضمة، تِ بالكسرة.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والآن مع المدود: تا، تو، تي.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التاء يتغير شكله في الكلمة. في أول الكلمة: تفاحة. في وسط الكلمة: كتاب. وفي آخر الكلمة: بيت.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وهذه كلمات أخرى تبدأ بحرف التاء: تمساح، تاج، تمر، وتلفاز.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 سريع! أي كلمة تبدأ بحرف التاء؟ موز، أم تفاحة، أم سمكة؟ فكّروا قليلاً...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أحسنتم! الجواب الصحيح هو تفاحة، لأنها تبدأ بحرف التاء.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شكراً لكم على الاستماع! كان معكم أوس الشوبكي، من مدرسة المهارات الدولية. إلى اللقاء!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6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5406" y="365760"/>
            <a:ext cx="1699994" cy="4663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F63"/>
                </a:solidFill>
              </a:rPr>
              <a:t>مدرسة المهارات الدولية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5406" y="365760"/>
            <a:ext cx="1699994" cy="466344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548640"/>
            <a:ext cx="64838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حرف التاء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1280160"/>
            <a:ext cx="648388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en-US" sz="15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3474720"/>
            <a:ext cx="64838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يقدّمه الطالب: أوس الشوبكي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3931920"/>
            <a:ext cx="64838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مدرسة المهارات الدولية</a:t>
            </a:r>
            <a:endParaRPr lang="en-US" sz="1800" dirty="0"/>
          </a:p>
        </p:txBody>
      </p:sp>
    </p:spTree>
  </p:cSld>
  <p:clrMapOvr>
    <a:masterClrMapping/>
  </p:clrMapOvr>
  <p:transition spd="med" advTm="7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483886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2095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انظروا إلى شكل حرف التاء!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97280"/>
            <a:ext cx="648388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0" b="1" dirty="0">
                <a:solidFill>
                  <a:srgbClr val="E2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en-US" sz="170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3749040"/>
            <a:ext cx="64838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شكله مثل صحن صغير، وفوقه نقطتان</a:t>
            </a:r>
            <a:endParaRPr lang="en-US" sz="2000" dirty="0"/>
          </a:p>
        </p:txBody>
      </p:sp>
    </p:spTree>
  </p:cSld>
  <p:clrMapOvr>
    <a:masterClrMapping/>
  </p:clrMapOvr>
  <p:transition spd="med" advTm="7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483886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2095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الحركات القصيرة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64551" y="1371600"/>
            <a:ext cx="2039375" cy="2377440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764551" y="1463040"/>
            <a:ext cx="203937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E2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4764551" y="2532888"/>
            <a:ext cx="203937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فتحة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42295" y="1371600"/>
            <a:ext cx="2039375" cy="2377440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42295" y="1463040"/>
            <a:ext cx="203937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2F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2542295" y="2532888"/>
            <a:ext cx="203937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ضمة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1371600"/>
            <a:ext cx="2039375" cy="2377440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20040" y="1463040"/>
            <a:ext cx="203937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2D7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2532888"/>
            <a:ext cx="203937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كسرة</a:t>
            </a:r>
            <a:endParaRPr lang="en-US" sz="1800" dirty="0"/>
          </a:p>
        </p:txBody>
      </p:sp>
    </p:spTree>
  </p:cSld>
  <p:clrMapOvr>
    <a:masterClrMapping/>
  </p:clrMapOvr>
  <p:transition spd="med" advTm="8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483886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2095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المدود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64551" y="1371600"/>
            <a:ext cx="2039375" cy="2377440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764551" y="1463040"/>
            <a:ext cx="203937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E2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4764551" y="2532888"/>
            <a:ext cx="203937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 بالألف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42295" y="1371600"/>
            <a:ext cx="2039375" cy="2377440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42295" y="1463040"/>
            <a:ext cx="203937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2F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2542295" y="2532888"/>
            <a:ext cx="203937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 بالواو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1371600"/>
            <a:ext cx="2039375" cy="2377440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20040" y="1463040"/>
            <a:ext cx="203937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2D7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تي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2532888"/>
            <a:ext cx="2039375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 بالياء</a:t>
            </a:r>
            <a:endParaRPr lang="en-US" sz="1800" dirty="0"/>
          </a:p>
        </p:txBody>
      </p:sp>
    </p:spTree>
  </p:cSld>
  <p:clrMapOvr>
    <a:masterClrMapping/>
  </p:clrMapOvr>
  <p:transition spd="med" advTm="7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483886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2095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أشكال حرف التاء في الكلمة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64551" y="1188720"/>
            <a:ext cx="2039375" cy="3200400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764551" y="1280160"/>
            <a:ext cx="2039375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E2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تـ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764551" y="2720340"/>
            <a:ext cx="2039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🍎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764551" y="3680460"/>
            <a:ext cx="2039375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lang="en-US" sz="1700" b="1" dirty="0">
                <a:solidFill>
                  <a:srgbClr val="E2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pPr algn="ctr" indent="0" marL="0">
              <a:buNone/>
            </a:pPr>
            <a:r>
              <a:rPr lang="en-US" sz="17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فاحة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542295" y="1188720"/>
            <a:ext cx="2039375" cy="3200400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42295" y="1280160"/>
            <a:ext cx="2039375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2F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ـتـ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2542295" y="2720340"/>
            <a:ext cx="2039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542295" y="3680460"/>
            <a:ext cx="2039375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pPr algn="ctr" indent="0" marL="0">
              <a:buNone/>
            </a:pPr>
            <a:r>
              <a:rPr lang="en-US" sz="1700" b="1" dirty="0">
                <a:solidFill>
                  <a:srgbClr val="E2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pPr algn="ctr" indent="0" marL="0">
              <a:buNone/>
            </a:pPr>
            <a:r>
              <a:rPr lang="en-US" sz="17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0040" y="1188720"/>
            <a:ext cx="2039375" cy="3200400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20040" y="1280160"/>
            <a:ext cx="2039375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2D7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ـت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2720340"/>
            <a:ext cx="2039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" y="3680460"/>
            <a:ext cx="2039375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</a:t>
            </a:r>
            <a:pPr algn="ctr" indent="0" marL="0">
              <a:buNone/>
            </a:pPr>
            <a:r>
              <a:rPr lang="en-US" sz="1700" b="1" dirty="0">
                <a:solidFill>
                  <a:srgbClr val="E2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pPr algn="ctr" indent="0" marL="0">
              <a:buNone/>
            </a:pP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64551" y="4462272"/>
            <a:ext cx="203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الكلمة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542295" y="4462272"/>
            <a:ext cx="203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وسط الكلمة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4462272"/>
            <a:ext cx="203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آخر الكلمة</a:t>
            </a:r>
            <a:endParaRPr lang="en-US" sz="1300" dirty="0"/>
          </a:p>
        </p:txBody>
      </p:sp>
    </p:spTree>
  </p:cSld>
  <p:clrMapOvr>
    <a:masterClrMapping/>
  </p:clrMapOvr>
  <p:transition spd="med" advTm="6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483886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2095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كلمات تبدأ بحرف التاء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320115" y="1463040"/>
            <a:ext cx="1483812" cy="2194560"/>
          </a:xfrm>
          <a:prstGeom prst="roundRect">
            <a:avLst>
              <a:gd name="adj" fmla="val 9244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320115" y="1554480"/>
            <a:ext cx="14838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🐊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320115" y="2212848"/>
            <a:ext cx="14838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lang="en-US" sz="1600" b="1" dirty="0">
                <a:solidFill>
                  <a:srgbClr val="E2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pPr algn="ctr"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3423" y="1463040"/>
            <a:ext cx="1483812" cy="2194560"/>
          </a:xfrm>
          <a:prstGeom prst="roundRect">
            <a:avLst>
              <a:gd name="adj" fmla="val 9244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53423" y="1554480"/>
            <a:ext cx="14838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👑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53423" y="2212848"/>
            <a:ext cx="14838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lang="en-US" sz="1600" b="1" dirty="0">
                <a:solidFill>
                  <a:srgbClr val="E2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pPr algn="ctr"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86732" y="1463040"/>
            <a:ext cx="1483812" cy="2194560"/>
          </a:xfrm>
          <a:prstGeom prst="roundRect">
            <a:avLst>
              <a:gd name="adj" fmla="val 9244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986732" y="1554480"/>
            <a:ext cx="14838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🌴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986732" y="2212848"/>
            <a:ext cx="14838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lang="en-US" sz="1600" b="1" dirty="0">
                <a:solidFill>
                  <a:srgbClr val="E2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pPr algn="ctr"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" y="1463040"/>
            <a:ext cx="1483812" cy="2194560"/>
          </a:xfrm>
          <a:prstGeom prst="roundRect">
            <a:avLst>
              <a:gd name="adj" fmla="val 9244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20040" y="1554480"/>
            <a:ext cx="14838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📺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" y="2212848"/>
            <a:ext cx="14838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lang="en-US" sz="1600" b="1" dirty="0">
                <a:solidFill>
                  <a:srgbClr val="E2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pPr algn="ctr" indent="0" marL="0">
              <a:buNone/>
            </a:pPr>
            <a:r>
              <a:rPr lang="en-US" sz="16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لفاز</a:t>
            </a:r>
            <a:endParaRPr lang="en-US" sz="1600" dirty="0"/>
          </a:p>
        </p:txBody>
      </p:sp>
    </p:spTree>
  </p:cSld>
  <p:clrMapOvr>
    <a:masterClrMapping/>
  </p:clrMapOvr>
  <p:transition spd="med" advTm="10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483886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2095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سؤال: أي كلمة تبدأ بحرف التاء؟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64551" y="1463040"/>
            <a:ext cx="2039375" cy="2194560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764551" y="1554480"/>
            <a:ext cx="2039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🍌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764551" y="2212848"/>
            <a:ext cx="2039375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موز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42295" y="1463040"/>
            <a:ext cx="2039375" cy="2194560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42295" y="1554480"/>
            <a:ext cx="2039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🍎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542295" y="2212848"/>
            <a:ext cx="2039375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تفاحة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2039375" cy="2194560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  <a:effectLst>
            <a:outerShdw sx="100000" sy="100000" kx="0" ky="0" algn="bl" rotWithShape="0" blurRad="50800" dist="25400" dir="5400000">
              <a:srgbClr val="1F2F63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20040" y="1554480"/>
            <a:ext cx="2039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🐟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2212848"/>
            <a:ext cx="2039375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سمكة</a:t>
            </a:r>
            <a:endParaRPr lang="en-US" sz="2000" dirty="0"/>
          </a:p>
        </p:txBody>
      </p:sp>
    </p:spTree>
  </p:cSld>
  <p:clrMapOvr>
    <a:masterClrMapping/>
  </p:clrMapOvr>
  <p:transition spd="med" advTm="80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6483886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1F2F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2095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أحسنتم! الجواب الصحيح: تفاحة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1823" y="1371600"/>
            <a:ext cx="2560320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0">
            <a:solidFill>
              <a:srgbClr val="2FA6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81823" y="14630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🍎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2281823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lang="en-US" sz="3000" b="1" dirty="0">
                <a:solidFill>
                  <a:srgbClr val="E2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pPr algn="ctr" indent="0" marL="0">
              <a:buNone/>
            </a:pPr>
            <a:r>
              <a:rPr lang="en-US" sz="3000" b="1" dirty="0">
                <a:solidFill>
                  <a:srgbClr val="1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فاحة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281823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F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تبدأ بحرف التاء</a:t>
            </a:r>
            <a:endParaRPr lang="en-US" sz="1600" dirty="0"/>
          </a:p>
        </p:txBody>
      </p:sp>
    </p:spTree>
  </p:cSld>
  <p:clrMapOvr>
    <a:masterClrMapping/>
  </p:clrMapOvr>
  <p:transition spd="med" advTm="100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731520"/>
            <a:ext cx="64838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لكم!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1645920"/>
            <a:ext cx="648388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3474720"/>
            <a:ext cx="64838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أوس الشوبكي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3931920"/>
            <a:ext cx="64838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مدرسة المهارات الدولية</a:t>
            </a:r>
            <a:endParaRPr lang="en-US" sz="1800" dirty="0"/>
          </a:p>
        </p:txBody>
      </p:sp>
    </p:spTree>
  </p:cSld>
  <p:clrMapOvr>
    <a:masterClrMapping/>
  </p:clrMapOvr>
  <p:transition spd="med" advTm="7000">
    <p:fade/>
  </p:transition>
</p:sld>
</file>

<file path=ppt/theme/theme1.xml><?xml version="1.0" encoding="utf-8"?>
<a:theme xmlns:a="http://schemas.openxmlformats.org/drawingml/2006/main" name="Almaharat">
  <a:themeElements>
    <a:clrScheme name="Almaharat">
      <a:dk1>
        <a:srgbClr val="1A2140"/>
      </a:dk1>
      <a:lt1>
        <a:srgbClr val="FFFFFF"/>
      </a:lt1>
      <a:dk2>
        <a:srgbClr val="1F2F63"/>
      </a:dk2>
      <a:lt2>
        <a:srgbClr val="E6F0FF"/>
      </a:lt2>
      <a:accent1>
        <a:srgbClr val="E2403A"/>
      </a:accent1>
      <a:accent2>
        <a:srgbClr val="2FA65A"/>
      </a:accent2>
      <a:accent3>
        <a:srgbClr val="2D7FD3"/>
      </a:accent3>
      <a:accent4>
        <a:srgbClr val="F5A623"/>
      </a:accent4>
      <a:accent5>
        <a:srgbClr val="1F2F63"/>
      </a:accent5>
      <a:accent6>
        <a:srgbClr val="8AA8D8"/>
      </a:accent6>
      <a:hlink>
        <a:srgbClr val="2D7FD3"/>
      </a:hlink>
      <a:folHlink>
        <a:srgbClr val="1F2F63"/>
      </a:folHlink>
    </a:clrScheme>
    <a:fontScheme name="Almahara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حرف التاء</dc:title>
  <dc:subject>PptxGenJS Presentation</dc:subject>
  <dc:creator>أوس الشوبكي</dc:creator>
  <cp:lastModifiedBy>أوس الشوبكي</cp:lastModifiedBy>
  <cp:revision>1</cp:revision>
  <dcterms:created xsi:type="dcterms:W3CDTF">2026-10-02T16:29:46Z</dcterms:created>
  <dcterms:modified xsi:type="dcterms:W3CDTF">2026-10-02T16:29:46Z</dcterms:modified>
</cp:coreProperties>
</file>